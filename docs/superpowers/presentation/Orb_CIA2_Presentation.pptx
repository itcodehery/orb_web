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</p:sldIdLst>
  <p:sldSz cy="6858000" cx="12192000"/>
  <p:notesSz cx="6858000" cy="9144000"/>
  <p:embeddedFontLst>
    <p:embeddedFont>
      <p:font typeface="Archivo Narrow"/>
      <p:regular r:id="rId8"/>
      <p:bold r:id="rId9"/>
      <p:italic r:id="rId10"/>
      <p:boldItalic r:id="rId11"/>
    </p:embeddedFont>
    <p:embeddedFont>
      <p:font typeface="Yellowtail"/>
      <p:regular r:id="rId12"/>
    </p:embeddedFont>
    <p:embeddedFont>
      <p:font typeface="Archivo Narrow Medium"/>
      <p:regular r:id="rId13"/>
      <p:bold r:id="rId14"/>
      <p:italic r:id="rId15"/>
      <p:boldItalic r:id="rId16"/>
    </p:embeddedFont>
    <p:embeddedFont>
      <p:font typeface="IBM Plex Sans Condense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ArchivoNarrow-regular.fntdata"/><Relationship Id="rId9" Type="http://schemas.openxmlformats.org/officeDocument/2006/relationships/font" Target="fonts/ArchivoNarrow-bold.fntdata"/><Relationship Id="rId10" Type="http://schemas.openxmlformats.org/officeDocument/2006/relationships/font" Target="fonts/ArchivoNarrow-italic.fntdata"/><Relationship Id="rId11" Type="http://schemas.openxmlformats.org/officeDocument/2006/relationships/font" Target="fonts/ArchivoNarrow-boldItalic.fntdata"/><Relationship Id="rId12" Type="http://schemas.openxmlformats.org/officeDocument/2006/relationships/font" Target="fonts/Yellowtail-regular.fntdata"/><Relationship Id="rId13" Type="http://schemas.openxmlformats.org/officeDocument/2006/relationships/font" Target="fonts/ArchivoNarrowMedium-regular.fntdata"/><Relationship Id="rId14" Type="http://schemas.openxmlformats.org/officeDocument/2006/relationships/font" Target="fonts/ArchivoNarrowMedium-bold.fntdata"/><Relationship Id="rId15" Type="http://schemas.openxmlformats.org/officeDocument/2006/relationships/font" Target="fonts/ArchivoNarrowMedium-italic.fntdata"/><Relationship Id="rId16" Type="http://schemas.openxmlformats.org/officeDocument/2006/relationships/font" Target="fonts/ArchivoNarrowMedium-boldItalic.fntdata"/><Relationship Id="rId17" Type="http://schemas.openxmlformats.org/officeDocument/2006/relationships/font" Target="fonts/IBMPlexSansCondensed-regular.fntdata"/><Relationship Id="rId18" Type="http://schemas.openxmlformats.org/officeDocument/2006/relationships/font" Target="fonts/IBMPlexSansCondensed-bold.fntdata"/><Relationship Id="rId19" Type="http://schemas.openxmlformats.org/officeDocument/2006/relationships/font" Target="fonts/IBMPlexSansCondensed-italic.fntdata"/><Relationship Id="rId20" Type="http://schemas.openxmlformats.org/officeDocument/2006/relationships/font" Target="fonts/IBMPlexSansCondensed-boldItalic.fntdata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0503800d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0503800d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30503800d2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f372a8d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f372a8d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ef372a8d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indent="-31432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b="0" i="0" sz="28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b="0" i="0" sz="26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6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40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>
          <a:blip r:embed="rId1">
            <a:alphaModFix amt="3000"/>
          </a:blip>
          <a:stretch>
            <a:fillRect/>
          </a:stretch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617550" y="2313225"/>
            <a:ext cx="51708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81" name="Google Shape;81;p14"/>
          <p:cNvSpPr txBox="1"/>
          <p:nvPr>
            <p:ph type="ctrTitle"/>
          </p:nvPr>
        </p:nvSpPr>
        <p:spPr>
          <a:xfrm>
            <a:off x="415600" y="1379928"/>
            <a:ext cx="11360700" cy="933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212121"/>
                </a:solidFill>
                <a:latin typeface="Arial"/>
              </a:rPr>
              <a:t>Orb: A Governance-First Command</a:t>
            </a:r>
            <a:endParaRPr/>
          </a:p>
          <a:p>
            <a:pPr algn="l"/>
            <a:r>
              <a:rPr sz="2600" b="1" i="0">
                <a:solidFill>
                  <a:srgbClr val="212121"/>
                </a:solidFill>
                <a:latin typeface="Arial"/>
              </a:rPr>
              <a:t>Console for Local Language Models</a:t>
            </a:r>
          </a:p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368775" y="2374701"/>
            <a:ext cx="11360700" cy="23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212121"/>
                </a:solidFill>
                <a:latin typeface="Arial"/>
              </a:rPr>
              <a:t>Specialization Project Presentation (CIA 2)</a:t>
            </a:r>
            <a:endParaRPr/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Arial"/>
              </a:rPr>
              <a:t> 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Presented By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  <a:latin typeface="Arial"/>
              </a:rPr>
              <a:t>Praneeth M (2547142)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  <a:latin typeface="Arial"/>
              </a:rPr>
              <a:t>Parthiv Sushil (2547141)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  <a:latin typeface="Arial"/>
              </a:rPr>
              <a:t>Hari Prasad (2547XX)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Arial"/>
              </a:rPr>
              <a:t> 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Project Guide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  <a:latin typeface="Arial"/>
              </a:rPr>
              <a:t>Dr. Somnath Sinha</a:t>
            </a:r>
          </a:p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547325" y="5078326"/>
            <a:ext cx="11360700" cy="7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chivo Narrow"/>
              <a:buNone/>
            </a:pPr>
            <a:r>
              <a:rPr sz="1400" b="1" i="0">
                <a:solidFill>
                  <a:srgbClr val="212121"/>
                </a:solidFill>
                <a:latin typeface="Arial"/>
              </a:rPr>
              <a:t>Department of Computer Science</a:t>
            </a:r>
            <a:endParaRPr b="1" sz="2200"/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CHRIST (Deemed to be University), Bengaluru-29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Local large language models such as Llama, Qwen, and Gemma now run entirely on personal hardware through runtimes like Ollama.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Running models locally protects privacy and removes recurring cloud cost, but it also removes the safety controls that hosted providers supply by default.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On a local machine an autonomous model can read files, execute shell commands, and reach the network with no oversight.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Orb introduces a governance and observability layer that sits between the user and every action a local model performs.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Local model runtimes expose raw inference but provide no policy control, auditing, or accountability.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Users cannot easily observe how a model reasons, how long it takes, or how likely a response is to be fabricated.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Tool-capable models can carry out destructive actions without any explicit approval step.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No unified interface exists to manage both local and cloud models under a single consistent set of rules.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Provide a single console to operate local and cloud language models with full transparency.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Enforce configurable policies that allow, block, or require approval for each model action.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Deliver real-time telemetry, including inference latency and a hallucination risk indicator.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Persist user sessions and durable memory while keeping all data on the user's own machine.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Support multiple model providers through one unified connector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Scope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In scope: a web console, a governed backend gateway, policy enforcement, telemetry, memory, and session persistence.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Supported runtimes: local Ollama models and cloud providers through bring-your-own-key connectors.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Authentication and per-user data isolation via a managed identity provider.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Out of scope: model training, fine-tuning, and multi-user cloud hosting.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Existing Systems and Research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Chat front-ends for Ollama focus on conversation but omit policy control and auditing.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Commercial assistants offer governance only within their own hosted cloud, not for local models.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Observability tools track tokens and latency, yet they neither gate actions nor score hallucination risk.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Research gap: no local-first tool unifies conversation, governance, observability, and memory in one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Proposed System: Orb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75037" y="1499616"/>
            <a:ext cx="8041895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37.0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89" y="1572768"/>
            <a:ext cx="7895591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The Orb landing experience frames the goal: local intelligence backed by total oversight.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Core Design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84116" y="1499616"/>
            <a:ext cx="8023736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37.2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268" y="1572768"/>
            <a:ext cx="7877432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Three principles guide the system: Total Oversight of every inference, a Human in the Loop for sensitive actions, and Local Only execution with no cloud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874519" cy="960120"/>
          </a:xfrm>
          <a:prstGeom prst="round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User
(Web Console)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148840"/>
            <a:ext cx="1874519" cy="960120"/>
          </a:xfrm>
          <a:prstGeom prst="round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Governed Gateway
(Express / 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2148840"/>
            <a:ext cx="1874519" cy="960120"/>
          </a:xfrm>
          <a:prstGeom prst="round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Policy Engine
(Allow / Block / Approve)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1874519" cy="960120"/>
          </a:xfrm>
          <a:prstGeom prst="round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Model Adapter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148840"/>
            <a:ext cx="1874519" cy="960120"/>
          </a:xfrm>
          <a:prstGeom prst="round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212121"/>
                </a:solidFill>
                <a:latin typeface="Arial"/>
              </a:rPr>
              <a:t>Local Ollama
&amp;  Cloud Providers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7732" y="2482596"/>
            <a:ext cx="310896" cy="292608"/>
          </a:xfrm>
          <a:prstGeom prst="rightArrow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713731" y="2482596"/>
            <a:ext cx="310896" cy="292608"/>
          </a:xfrm>
          <a:prstGeom prst="rightArrow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999732" y="2482596"/>
            <a:ext cx="310896" cy="292608"/>
          </a:xfrm>
          <a:prstGeom prst="rightArrow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285732" y="2482596"/>
            <a:ext cx="310896" cy="292608"/>
          </a:xfrm>
          <a:prstGeom prst="rightArrow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11018520" cy="868680"/>
          </a:xfrm>
          <a:prstGeom prst="roundRect">
            <a:avLst/>
          </a:prstGeom>
          <a:solidFill>
            <a:srgbClr val="37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 i="0">
                <a:solidFill>
                  <a:srgbClr val="FFFFFF"/>
                </a:solidFill>
                <a:latin typeface="Arial"/>
              </a:rPr>
              <a:t>Persistence:  Local SQLite  (sessions · memory · API keys · audit logs)        |        Identity:  Clerk Authentication  (per-user isolation)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911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Every user request flows through the governed gateway, where the policy engine evaluates each tool action before it reaches a model.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Local and cloud models share one adapter, while all state and audit records remain on the user's machine.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Frontend: Next.js, React, and TypeScript, with Framer Motion for interface animation.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Backend: Node.js and Express in TypeScript, exposing a governed model gateway.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Local inference: the Ollama runtime, serving Qwen3 and Gemma3 models.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Cloud connectors: Claude, OpenAI, Groq, Mistral, and Gemini through a shared adapter.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Data: a local SQLite database accessed with better-sqlite3.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Identity: Clerk authentication for per-user access and isolation.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Unified Command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81020" y="1499616"/>
            <a:ext cx="8029928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43.3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72" y="1572768"/>
            <a:ext cx="7883624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One workspace unifies conversation, live telemetry, and policy status. Here a local Qwen3 model answers under active guardrails, with latency and risk reported alongside.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Telemetry and Hallucination Risk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92908" y="1499616"/>
            <a:ext cx="9806151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37.3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60" y="1572768"/>
            <a:ext cx="9659847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Orb tracks token throughput and inference latency, and scores every reply for hallucination risk to warn when output may be ungrounded.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Policy Enforcement and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97165" y="1499616"/>
            <a:ext cx="7997637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37.4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317" y="1572768"/>
            <a:ext cx="7851333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Configurable rulesets allow, block, or require approval for actions such as destructive system commands and outbound network requests.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Persistent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9531" y="1499616"/>
            <a:ext cx="8532907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55.1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683" y="1572768"/>
            <a:ext cx="8386603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Durable facts are extracted from conversations in the background and recalled in later sessions. Memory is scoped to each authenticated user.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Session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06084" y="1499616"/>
            <a:ext cx="7579800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59.13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236" y="1572768"/>
            <a:ext cx="7433496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Past sessions are retained with their average latency, risk score, and status, so any earlier conversation can be reviewed or resumed.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Multi-Provider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13894" y="1499616"/>
            <a:ext cx="7764179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1.00.0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46" y="1572768"/>
            <a:ext cx="7617875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Cloud models from Claude, OpenAI, Groq, Mistral, and Gemini run beside local models. API keys are stored locally and never leave the machine.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Authentication and Data Ownership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19157" y="1499616"/>
            <a:ext cx="6953654" cy="4261104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24 at 10.59.4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09" y="1572768"/>
            <a:ext cx="6807350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961888"/>
            <a:ext cx="109118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Clerk secures access and isolates each user's data, while sessions, memory, and keys remain in a local database on the user's device.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Results and Current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A working end-to-end console operates local models under enforced policies.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Real-time telemetry and background hallucination scoring are functional.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Per-user memory and session persistence are implemented on a local database.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Five cloud providers are integrated through a single connector layer.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A recent fix made background memory extraction reliable for reasoning models that emit large hidden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Challenges and 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Reasoning models emit extensive hidden thinking, which required careful handling of token limits during background analysis.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Planned: an inline approval dialog so gated actions can be authorised without leaving the conversation.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Planned: richer analytics with historical trends for latency and hallucination risk.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Planned: full chat wiring for the Gemini connector and exportable audit logs.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Orb shows that local language models can be operated with the governance expected of hosted systems.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The project unifies conversation, policy enforcement, observability, and memory in a single local-first console.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The outcome is a private, accountable, and extensible platform for everyday use of both local and cloud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212121"/>
                </a:solidFill>
                <a:latin typeface="Arial"/>
              </a:rP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Ollama: local large language model runtime. https://ollama.com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Next.js documentation, Vercel. https://nextjs.org/docs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Clerk: authentication and user management. https://clerk.com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Anthropic, OpenAI, Groq, and Mistral developer documentation.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170432"/>
            <a:ext cx="1554480" cy="5029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i="0">
                <a:solidFill>
                  <a:srgbClr val="212121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63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95959"/>
                </a:solidFill>
                <a:latin typeface="Arial"/>
              </a:rPr>
              <a:t>Questions and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